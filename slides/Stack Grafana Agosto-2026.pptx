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34"/>
  </p:notesMasterIdLst>
  <p:handoutMasterIdLst>
    <p:handoutMasterId r:id="rId35"/>
  </p:handoutMasterIdLst>
  <p:sldIdLst>
    <p:sldId id="1838" r:id="rId8"/>
    <p:sldId id="1834" r:id="rId9"/>
    <p:sldId id="1837" r:id="rId10"/>
    <p:sldId id="1707" r:id="rId11"/>
    <p:sldId id="1765" r:id="rId12"/>
    <p:sldId id="1518" r:id="rId13"/>
    <p:sldId id="1758" r:id="rId14"/>
    <p:sldId id="1752" r:id="rId15"/>
    <p:sldId id="1764" r:id="rId16"/>
    <p:sldId id="1766" r:id="rId17"/>
    <p:sldId id="1768" r:id="rId18"/>
    <p:sldId id="1840" r:id="rId19"/>
    <p:sldId id="257" r:id="rId20"/>
    <p:sldId id="1773" r:id="rId21"/>
    <p:sldId id="1751" r:id="rId22"/>
    <p:sldId id="1760" r:id="rId23"/>
    <p:sldId id="1762" r:id="rId24"/>
    <p:sldId id="1757" r:id="rId25"/>
    <p:sldId id="1818" r:id="rId26"/>
    <p:sldId id="1816" r:id="rId27"/>
    <p:sldId id="1774" r:id="rId28"/>
    <p:sldId id="1839" r:id="rId29"/>
    <p:sldId id="1769" r:id="rId30"/>
    <p:sldId id="1841" r:id="rId31"/>
    <p:sldId id="1615" r:id="rId32"/>
    <p:sldId id="1750" r:id="rId33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838"/>
            <p14:sldId id="1834"/>
            <p14:sldId id="1837"/>
            <p14:sldId id="1707"/>
            <p14:sldId id="1765"/>
            <p14:sldId id="1518"/>
            <p14:sldId id="1758"/>
            <p14:sldId id="1752"/>
            <p14:sldId id="1764"/>
            <p14:sldId id="1766"/>
            <p14:sldId id="1768"/>
            <p14:sldId id="1840"/>
            <p14:sldId id="257"/>
            <p14:sldId id="1773"/>
            <p14:sldId id="1751"/>
            <p14:sldId id="1760"/>
            <p14:sldId id="1762"/>
            <p14:sldId id="1757"/>
            <p14:sldId id="1818"/>
            <p14:sldId id="1816"/>
            <p14:sldId id="1774"/>
            <p14:sldId id="1839"/>
            <p14:sldId id="1769"/>
          </p14:sldIdLst>
        </p14:section>
        <p14:section name="Finalizando" id="{CF622469-3E87-46BA-8ED6-912C47B00EF3}">
          <p14:sldIdLst>
            <p14:sldId id="1841"/>
            <p14:sldId id="1615"/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88" autoAdjust="0"/>
    <p:restoredTop sz="79472" autoAdjust="0"/>
  </p:normalViewPr>
  <p:slideViewPr>
    <p:cSldViewPr>
      <p:cViewPr varScale="1">
        <p:scale>
          <a:sx n="81" d="100"/>
          <a:sy n="81" d="100"/>
        </p:scale>
        <p:origin x="629" y="48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heme" Target="theme/theme1.xml"/><Relationship Id="rId21" Type="http://schemas.openxmlformats.org/officeDocument/2006/relationships/slide" Target="slides/slide1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7/31/2026 9:39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10:27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92F4D-3553-4E06-C643-2B59F289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03DEFB-E6DA-E25E-CBC0-46CDAE2BA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DD011C-1837-A5CC-CD1B-9FDF3B542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FEA146-1BDC-D679-FC1F-7B56DC72B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16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2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10:33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76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10:59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867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89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831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04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2FA1-66A5-3E2E-8F72-D77CAC08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6E22A1-63F6-3E15-8B68-97494847F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56949C-9E9A-E538-3AD0-281C6B005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F2D46B9C-9870-9CC5-E748-DCCEB70D6B3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ECFCA2-991A-53C9-BD56-6794E8C3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3F412794-2D3A-FB81-7F64-F0D72C52845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11:33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6DE0E6-29C5-25A8-E173-80471BAE7E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5510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451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8521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418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393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678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98BB0-E47B-8D07-C933-5E59DB2B3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17D30ED-0704-2495-4FFA-575D237E4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6FC385-9E2D-78DA-1AF7-449172BA6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9B7E7DE6-AF79-6B92-4335-F1B37B443E8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1BA66B-4FA7-5C24-ED85-5F4BC6FE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4A3FB3CB-2FE2-F2BF-4AA2-D08D56F14D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A9FFDD-5EDA-D9A6-23A5-12EECE0511C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924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79DC-4C44-D089-443E-3B72D841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42DCD6E-42B9-BBDE-B22C-0EB596866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D72A2A-24FC-190C-E63C-D9BDF9AA2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D5C8C95-AFF0-296B-6BF1-C6971C22198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F479A-C9BE-6072-58AE-F9931829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376384B4-353B-80F5-B76C-FEA146E747B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135A09-7928-7CFF-82FC-1D9F0F4885C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158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BDB1-DA69-5EE8-13BC-34AEE7933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16B28BB-6CEC-8829-24DD-D112D93BE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CF180F-2770-B1B9-F8E2-0A68F5D5A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165A668-E1DA-04F5-7433-E1D3D70C936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3E212-6923-65CE-3317-943AC0DF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20B58255-8375-C9AE-C810-EEB9332AD9F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11:02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9BCAC4-E82F-0C5D-644B-7703D1B36F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051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9A77-EAF5-CA93-7AEA-EF5BA655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E394A9-6FF7-517E-7FC6-2DB954823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B4990D-7535-44F0-7894-30305DDA3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5CA07517-69A8-559A-34D3-87B3E827CEC0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D8431E-5371-347F-0386-4F8A2ED8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879D1507-D672-E30B-F115-C3907D5EF46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10:39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0C220A-6792-E398-8EDA-F9AF7C6C36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961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7/31/2026 9:39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1846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A1E5-6256-B533-DD2B-F9B2A901F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876A01-78FD-391D-2B18-53E77E9C9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A63217A-DBAC-E072-CD85-304FCC686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5371B7C-EE85-D32A-6913-41F563373277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BC908F-E276-0ACF-2A75-B22B11B7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ADB56761-99BB-EF69-48C6-D61A20092B3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8/1/2026 12:05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3D0DF6-0E61-4997-2A1F-4D87182D11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5540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7/31/2026 9:39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099733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8/1/2026 12:06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16.sv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elemetry.io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oss/alloy-opentelemetry-collector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metheus.io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oss/loki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oss/tempo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3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16.svg"/><Relationship Id="rId9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915189BD-7EAE-4A0C-BD8E-B94BE30EF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FBDA6EF-1FF4-1884-E318-C9775D5221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3807" y="2278062"/>
            <a:ext cx="6842230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Grafana Champion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</a:p>
          <a:p>
            <a:endParaRPr lang="en-US" sz="2400" dirty="0"/>
          </a:p>
          <a:p>
            <a:r>
              <a:rPr lang="en-US" sz="2800" b="1" dirty="0"/>
              <a:t>Milton Camara Gomes</a:t>
            </a:r>
          </a:p>
          <a:p>
            <a:r>
              <a:rPr lang="en-US" sz="2400" dirty="0"/>
              <a:t>Microsoft MVP, MTAC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miltoncamara</a:t>
            </a:r>
            <a:endParaRPr lang="en-US" sz="2400" dirty="0"/>
          </a:p>
          <a:p>
            <a:r>
              <a:rPr lang="en-US" sz="2400" dirty="0"/>
              <a:t>youtube.com/</a:t>
            </a:r>
            <a:r>
              <a:rPr lang="en-US" sz="2400" dirty="0" err="1"/>
              <a:t>azurenapratica</a:t>
            </a:r>
            <a:br>
              <a:rPr lang="en-US" sz="2400" dirty="0"/>
            </a:br>
            <a:endParaRPr lang="en-US" sz="2400" dirty="0"/>
          </a:p>
          <a:p>
            <a:br>
              <a:rPr lang="en-US" sz="2400" dirty="0"/>
            </a:br>
            <a:endParaRPr lang="en-US" sz="2400" dirty="0"/>
          </a:p>
        </p:txBody>
      </p:sp>
      <p:pic>
        <p:nvPicPr>
          <p:cNvPr id="2" name="Imagem 1" descr="Uma imagem contendo desenho&#10;&#10;Descrição gerada automaticamente">
            <a:extLst>
              <a:ext uri="{FF2B5EF4-FFF2-40B4-BE49-F238E27FC236}">
                <a16:creationId xmlns:a16="http://schemas.microsoft.com/office/drawing/2014/main" id="{28312FFF-D8B2-81C5-2657-A5C2CF3133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3" name="Imagem 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55DD0707-CD54-367C-7AB8-9E606BBC7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5" name="Imagem 4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2B56B9CE-9C39-037C-DC6A-2D5C4DA8AB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C752A70B-62E7-D85B-9F3C-72E93FDA0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7" name="Imagem 6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3C1D38D7-8C12-E208-1769-8D8485FA65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DDCA989-65F6-02F2-FF6A-B7914D54F5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  <p:sp>
        <p:nvSpPr>
          <p:cNvPr id="15" name="Title 3">
            <a:extLst>
              <a:ext uri="{FF2B5EF4-FFF2-40B4-BE49-F238E27FC236}">
                <a16:creationId xmlns:a16="http://schemas.microsoft.com/office/drawing/2014/main" id="{87FEF26F-C7E2-FB89-BA14-3EACBCE92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972" y="449263"/>
            <a:ext cx="11201400" cy="2514600"/>
          </a:xfrm>
        </p:spPr>
        <p:txBody>
          <a:bodyPr/>
          <a:lstStyle/>
          <a:p>
            <a:r>
              <a:rPr lang="pt-BR" sz="4400" b="1" dirty="0" err="1"/>
              <a:t>Observabilidade</a:t>
            </a:r>
            <a:r>
              <a:rPr lang="pt-BR" sz="4400" b="1" dirty="0"/>
              <a:t> Unificada com a </a:t>
            </a:r>
            <a:r>
              <a:rPr lang="pt-BR" sz="4400" b="1" dirty="0" err="1"/>
              <a:t>stack</a:t>
            </a:r>
            <a:r>
              <a:rPr lang="pt-BR" sz="4400" b="1" dirty="0"/>
              <a:t> </a:t>
            </a:r>
            <a:r>
              <a:rPr lang="pt-BR" sz="4400" b="1" dirty="0" err="1"/>
              <a:t>Gafana</a:t>
            </a:r>
            <a:br>
              <a:rPr lang="pt-BR" sz="4400" b="1" dirty="0"/>
            </a:br>
            <a:r>
              <a:rPr lang="pt-BR" sz="3300" b="1" dirty="0"/>
              <a:t>De aplicações a serviços em nuvem, IA e </a:t>
            </a:r>
            <a:r>
              <a:rPr lang="pt-BR" sz="3300" b="1" dirty="0" err="1"/>
              <a:t>Kubernetes</a:t>
            </a:r>
            <a:r>
              <a:rPr lang="pt-BR" sz="3300" b="1" dirty="0"/>
              <a:t>!</a:t>
            </a:r>
            <a:endParaRPr lang="pt-BR" sz="3300" dirty="0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0A3A61B3-D41A-67F8-5EE6-B06C2ADD5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09037" y="2158766"/>
            <a:ext cx="2574312" cy="267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3831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E6EC-1BE6-EA1B-3E7B-6B1A351F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71E3E6-45C7-C6B2-62BE-DFC2119C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Valuable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 de Engenharia – Robbu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7CEDAB-9C50-B264-2537-71B7BBEF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Milton Câmara</a:t>
            </a: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477AD96F-810B-FC4E-C575-D81C8C79F828}"/>
              </a:ext>
            </a:extLst>
          </p:cNvPr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DAF4573F-A6D4-9BE6-4B0F-3D5B2BBAE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" y="5315461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m do perfil">
            <a:extLst>
              <a:ext uri="{FF2B5EF4-FFF2-40B4-BE49-F238E27FC236}">
                <a16:creationId xmlns:a16="http://schemas.microsoft.com/office/drawing/2014/main" id="{586564DB-6B03-0AAF-4ACC-92538617C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037" y="623814"/>
            <a:ext cx="2209800" cy="2209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433B3E-37AE-58E8-A6AD-BDC718C22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3499" y="4374014"/>
            <a:ext cx="1917338" cy="188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79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439861"/>
            <a:ext cx="11426521" cy="4980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3200" dirty="0">
                <a:solidFill>
                  <a:schemeClr val="tx1">
                    <a:lumMod val="50000"/>
                  </a:schemeClr>
                </a:solidFill>
              </a:rPr>
              <a:t>Eventos online e gratuitos</a:t>
            </a:r>
            <a:br>
              <a:rPr lang="pt-BR" sz="32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pt-BR" sz="3200" b="1" u="sng" dirty="0">
                <a:solidFill>
                  <a:schemeClr val="tx1">
                    <a:lumMod val="50000"/>
                  </a:schemeClr>
                </a:solidFill>
              </a:rPr>
              <a:t>https://www.meetup.com/dotnet-Sao-Paulo/</a:t>
            </a:r>
          </a:p>
          <a:p>
            <a:pPr marL="0" indent="0">
              <a:lnSpc>
                <a:spcPct val="100000"/>
              </a:lnSpc>
              <a:buNone/>
            </a:pPr>
            <a:endParaRPr lang="pt-BR" sz="3200" b="1" u="sng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10820400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Participe de nossas iniciativas gratuitas</a:t>
            </a:r>
          </a:p>
        </p:txBody>
      </p:sp>
      <p:pic>
        <p:nvPicPr>
          <p:cNvPr id="5" name="Imagem 4" descr="Código QR&#10;&#10;Descrição gerada automaticamente">
            <a:extLst>
              <a:ext uri="{FF2B5EF4-FFF2-40B4-BE49-F238E27FC236}">
                <a16:creationId xmlns:a16="http://schemas.microsoft.com/office/drawing/2014/main" id="{FB8779B3-73CC-6E2D-176A-FE27BD34E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137" y="3497262"/>
            <a:ext cx="2362200" cy="23622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BED8B22-7603-A627-207A-9628AA026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37" y="1363662"/>
            <a:ext cx="2113260" cy="132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3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080D138C-6E62-82B9-73A3-D99FE6D1C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222" y="5052438"/>
            <a:ext cx="1192646" cy="119264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19527389-0FC7-242C-19CA-8F8D6A61B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7237" y="4863400"/>
            <a:ext cx="1318658" cy="137125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B0F52D5-A688-DF17-E7F6-E43735DC7D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4052" y="5052438"/>
            <a:ext cx="1417596" cy="1150344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E85FB2F4-608B-1221-6C10-C27880F08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6100" y="5020567"/>
            <a:ext cx="1045625" cy="121989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966384F-3DCA-5B72-F0F4-9F060E957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6280" y="5052438"/>
            <a:ext cx="1150345" cy="1150345"/>
          </a:xfrm>
          <a:prstGeom prst="rect">
            <a:avLst/>
          </a:prstGeom>
        </p:spPr>
      </p:pic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19780270-F482-07D3-C43F-7AE468A5461A}"/>
              </a:ext>
            </a:extLst>
          </p:cNvPr>
          <p:cNvSpPr>
            <a:spLocks noGrp="1"/>
          </p:cNvSpPr>
          <p:nvPr/>
        </p:nvSpPr>
        <p:spPr>
          <a:xfrm>
            <a:off x="731837" y="4199397"/>
            <a:ext cx="10937066" cy="5170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github.com/renatogroffe/observabilidade-stack-grafana_tech-summit-2026-08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07F41954-30F7-F6B0-3CAF-C70AA56FA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6948" y="5000611"/>
            <a:ext cx="1261720" cy="124447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BD9F03B-1852-E621-EC00-4D8A579FC1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4670" y="1144019"/>
            <a:ext cx="2883220" cy="288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1793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11810999" cy="129266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Uma visão geral da </a:t>
            </a:r>
            <a:r>
              <a:rPr lang="pt-BR" sz="3600" dirty="0" err="1">
                <a:solidFill>
                  <a:srgbClr val="494949"/>
                </a:solidFill>
              </a:rPr>
              <a:t>stack</a:t>
            </a:r>
            <a:r>
              <a:rPr lang="pt-BR" sz="3600" dirty="0">
                <a:solidFill>
                  <a:srgbClr val="494949"/>
                </a:solidFill>
              </a:rPr>
              <a:t> </a:t>
            </a:r>
            <a:r>
              <a:rPr lang="pt-BR" sz="3600" dirty="0" err="1">
                <a:solidFill>
                  <a:srgbClr val="494949"/>
                </a:solidFill>
              </a:rPr>
              <a:t>Grafana</a:t>
            </a: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0CBE13EF-2567-F507-4FAA-F4630A64E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222" y="5052438"/>
            <a:ext cx="1192646" cy="119264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38F89F0B-AA21-3388-6D73-7528CBFA18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7237" y="4863400"/>
            <a:ext cx="1318658" cy="137125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F1BA96A-5D06-92A1-B1E0-859C2E633A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4052" y="5052438"/>
            <a:ext cx="1417596" cy="115034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2C2BD6E7-B303-4107-8205-B225D9208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6100" y="5020567"/>
            <a:ext cx="1045625" cy="121989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0F30644D-7A49-DE15-4B90-CAABCA74E4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6280" y="5052438"/>
            <a:ext cx="1150345" cy="1150345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49466261-9865-7D15-BB6F-272A06FF6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6948" y="5000611"/>
            <a:ext cx="1261720" cy="124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Pilares da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Observabilidade</a:t>
            </a:r>
            <a:endParaRPr lang="pt-BR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744662"/>
            <a:ext cx="7008034" cy="312085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Logs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Métricas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Traces (Rastreamento)</a:t>
            </a:r>
          </a:p>
        </p:txBody>
      </p:sp>
      <p:pic>
        <p:nvPicPr>
          <p:cNvPr id="4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73AC1FF7-5F88-978D-8428-1C3372535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437" y="2430462"/>
            <a:ext cx="3778044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399537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Grafana: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211262"/>
            <a:ext cx="8379634" cy="496289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700" b="1" dirty="0">
                <a:solidFill>
                  <a:srgbClr val="494949"/>
                </a:solidFill>
              </a:rPr>
              <a:t>Monitoramento</a:t>
            </a:r>
            <a:r>
              <a:rPr lang="pt-BR" sz="2700" dirty="0">
                <a:solidFill>
                  <a:srgbClr val="494949"/>
                </a:solidFill>
              </a:rPr>
              <a:t> e </a:t>
            </a:r>
            <a:r>
              <a:rPr lang="pt-BR" sz="2700" b="1" dirty="0" err="1">
                <a:solidFill>
                  <a:srgbClr val="494949"/>
                </a:solidFill>
              </a:rPr>
              <a:t>observabilidade</a:t>
            </a:r>
            <a:r>
              <a:rPr lang="pt-BR" sz="2700" dirty="0">
                <a:solidFill>
                  <a:srgbClr val="494949"/>
                </a:solidFill>
              </a:rPr>
              <a:t> de aplicações, serviços de bancos de dados, soluções de IA e infraestrutura</a:t>
            </a:r>
            <a:endParaRPr lang="pt-BR" sz="27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7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700" b="1" dirty="0">
                <a:solidFill>
                  <a:srgbClr val="494949"/>
                </a:solidFill>
              </a:rPr>
              <a:t>Dashboards</a:t>
            </a:r>
            <a:r>
              <a:rPr lang="pt-BR" sz="2700" dirty="0">
                <a:solidFill>
                  <a:srgbClr val="494949"/>
                </a:solidFill>
              </a:rPr>
              <a:t> para visualização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7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700" b="1" dirty="0">
                <a:solidFill>
                  <a:srgbClr val="494949"/>
                </a:solidFill>
              </a:rPr>
              <a:t>Alertas de monitoramento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7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700" b="1" dirty="0">
                <a:solidFill>
                  <a:srgbClr val="494949"/>
                </a:solidFill>
              </a:rPr>
              <a:t>Open </a:t>
            </a:r>
            <a:r>
              <a:rPr lang="pt-BR" sz="2700" b="1" dirty="0" err="1">
                <a:solidFill>
                  <a:srgbClr val="494949"/>
                </a:solidFill>
              </a:rPr>
              <a:t>source</a:t>
            </a:r>
            <a:r>
              <a:rPr lang="pt-BR" sz="2700" dirty="0">
                <a:solidFill>
                  <a:srgbClr val="494949"/>
                </a:solidFill>
              </a:rPr>
              <a:t> e </a:t>
            </a:r>
            <a:r>
              <a:rPr lang="pt-BR" sz="2700" b="1" dirty="0">
                <a:solidFill>
                  <a:srgbClr val="494949"/>
                </a:solidFill>
              </a:rPr>
              <a:t>versão gerenciada (</a:t>
            </a:r>
            <a:r>
              <a:rPr lang="pt-BR" sz="2700" b="1" dirty="0" err="1">
                <a:solidFill>
                  <a:srgbClr val="494949"/>
                </a:solidFill>
              </a:rPr>
              <a:t>Grafana</a:t>
            </a:r>
            <a:r>
              <a:rPr lang="pt-BR" sz="2700" b="1" dirty="0">
                <a:solidFill>
                  <a:srgbClr val="494949"/>
                </a:solidFill>
              </a:rPr>
              <a:t> Cloud)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7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700" dirty="0">
                <a:solidFill>
                  <a:srgbClr val="494949"/>
                </a:solidFill>
              </a:rPr>
              <a:t>Site: </a:t>
            </a:r>
            <a:r>
              <a:rPr lang="pt-BR" sz="2700" dirty="0">
                <a:solidFill>
                  <a:srgbClr val="494949"/>
                </a:solidFill>
                <a:hlinkClick r:id="rId3"/>
              </a:rPr>
              <a:t>https://grafana.com/</a:t>
            </a:r>
            <a:endParaRPr lang="pt-BR" sz="27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2199B3-487D-DB28-0D24-9C4B29758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8179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Grafana: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439504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Flexibilidade, com suporte a diferentes tecnologias/fontes de dados </a:t>
            </a:r>
            <a:r>
              <a:rPr lang="pt-BR" sz="3600" b="1" dirty="0">
                <a:solidFill>
                  <a:srgbClr val="494949"/>
                </a:solidFill>
              </a:rPr>
              <a:t>(Data </a:t>
            </a:r>
            <a:r>
              <a:rPr lang="pt-BR" sz="3600" b="1" dirty="0" err="1">
                <a:solidFill>
                  <a:srgbClr val="494949"/>
                </a:solidFill>
              </a:rPr>
              <a:t>Sources</a:t>
            </a:r>
            <a:r>
              <a:rPr lang="pt-BR" sz="3600" b="1" dirty="0">
                <a:solidFill>
                  <a:srgbClr val="494949"/>
                </a:solidFill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de possíveis Data </a:t>
            </a:r>
            <a:r>
              <a:rPr lang="pt-BR" sz="3600" dirty="0" err="1">
                <a:solidFill>
                  <a:srgbClr val="494949"/>
                </a:solidFill>
              </a:rPr>
              <a:t>Sources</a:t>
            </a:r>
            <a:r>
              <a:rPr lang="pt-BR" sz="3600" dirty="0">
                <a:solidFill>
                  <a:srgbClr val="494949"/>
                </a:solidFill>
              </a:rPr>
              <a:t>: </a:t>
            </a:r>
            <a:r>
              <a:rPr lang="pt-BR" sz="3600" b="1" dirty="0">
                <a:solidFill>
                  <a:srgbClr val="494949"/>
                </a:solidFill>
              </a:rPr>
              <a:t>Azure Monitor, AWS </a:t>
            </a:r>
            <a:r>
              <a:rPr lang="pt-BR" sz="3600" b="1" dirty="0" err="1">
                <a:solidFill>
                  <a:srgbClr val="494949"/>
                </a:solidFill>
              </a:rPr>
              <a:t>CloudWatch</a:t>
            </a:r>
            <a:r>
              <a:rPr lang="pt-BR" sz="3600" b="1" dirty="0">
                <a:solidFill>
                  <a:srgbClr val="494949"/>
                </a:solidFill>
              </a:rPr>
              <a:t>, </a:t>
            </a:r>
            <a:r>
              <a:rPr lang="pt-BR" sz="3600" b="1" dirty="0" err="1">
                <a:solidFill>
                  <a:srgbClr val="494949"/>
                </a:solidFill>
              </a:rPr>
              <a:t>Prometheus</a:t>
            </a:r>
            <a:r>
              <a:rPr lang="pt-BR" sz="3600" b="1" dirty="0">
                <a:solidFill>
                  <a:srgbClr val="494949"/>
                </a:solidFill>
              </a:rPr>
              <a:t>, SQL Server, PostgreSQL, Oracle...</a:t>
            </a:r>
            <a:endParaRPr lang="pt-BR" sz="36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2199B3-487D-DB28-0D24-9C4B29758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2124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Grafana: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483824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Visualização unificada </a:t>
            </a:r>
            <a:r>
              <a:rPr lang="pt-BR" sz="3600" dirty="0">
                <a:solidFill>
                  <a:srgbClr val="494949"/>
                </a:solidFill>
              </a:rPr>
              <a:t>de múltiplas fontes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Centenas de </a:t>
            </a:r>
            <a:r>
              <a:rPr lang="pt-BR" sz="3600" b="1" dirty="0">
                <a:solidFill>
                  <a:srgbClr val="494949"/>
                </a:solidFill>
              </a:rPr>
              <a:t>dashboards pré-definidos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>
                <a:solidFill>
                  <a:srgbClr val="494949"/>
                </a:solidFill>
              </a:rPr>
              <a:t>Customização de dashboards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2199B3-487D-DB28-0D24-9C4B29758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7996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Grafana: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358251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Facilidade de uso</a:t>
            </a:r>
            <a:r>
              <a:rPr lang="pt-BR" sz="3200" dirty="0">
                <a:solidFill>
                  <a:srgbClr val="494949"/>
                </a:solidFill>
              </a:rPr>
              <a:t>, com uma interface intuitiva e amigável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Principal componente de todo um </a:t>
            </a:r>
            <a:r>
              <a:rPr lang="pt-BR" sz="3200" b="1" dirty="0">
                <a:solidFill>
                  <a:srgbClr val="494949"/>
                </a:solidFill>
              </a:rPr>
              <a:t>ecossistema de </a:t>
            </a:r>
            <a:r>
              <a:rPr lang="pt-BR" sz="3200" b="1" dirty="0" err="1">
                <a:solidFill>
                  <a:srgbClr val="494949"/>
                </a:solidFill>
              </a:rPr>
              <a:t>observabilidade</a:t>
            </a:r>
            <a:r>
              <a:rPr lang="pt-BR" sz="3200" b="1" dirty="0">
                <a:solidFill>
                  <a:srgbClr val="494949"/>
                </a:solidFill>
              </a:rPr>
              <a:t> e monitoramento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C2199B3-487D-DB28-0D24-9C4B29758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53030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F1B7-578E-9880-F695-E471FD11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958DD-2D78-7929-3DB2-0FA33AD6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Grafana GROT Academy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EF6E59-B826-4E26-01BF-40D814FCBA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8379634" cy="377949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Treinamentos </a:t>
            </a:r>
            <a:r>
              <a:rPr lang="pt-BR" sz="3200" dirty="0">
                <a:solidFill>
                  <a:srgbClr val="494949"/>
                </a:solidFill>
              </a:rPr>
              <a:t>e </a:t>
            </a:r>
            <a:r>
              <a:rPr lang="pt-BR" sz="3200" b="1" dirty="0">
                <a:solidFill>
                  <a:srgbClr val="494949"/>
                </a:solidFill>
              </a:rPr>
              <a:t>Certificações </a:t>
            </a:r>
            <a:r>
              <a:rPr lang="pt-BR" sz="3200" dirty="0">
                <a:solidFill>
                  <a:srgbClr val="494949"/>
                </a:solidFill>
              </a:rPr>
              <a:t>totalmente gratuitos na </a:t>
            </a:r>
            <a:r>
              <a:rPr lang="pt-BR" sz="3200" b="1" dirty="0" err="1">
                <a:solidFill>
                  <a:srgbClr val="494949"/>
                </a:solidFill>
              </a:rPr>
              <a:t>stack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b="1" dirty="0" err="1">
                <a:solidFill>
                  <a:srgbClr val="494949"/>
                </a:solidFill>
              </a:rPr>
              <a:t>Grafana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DC7E569A-CA53-0507-7A89-C4BB24953D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9037" y="2063749"/>
            <a:ext cx="2757057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4028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CD46F-3F58-4CAE-1922-FFDC8DAC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95DE7C-3A8C-1AF4-B1E4-D854C558B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" y="-1"/>
            <a:ext cx="12434711" cy="6994525"/>
          </a:xfrm>
          <a:prstGeom prst="rect">
            <a:avLst/>
          </a:prstGeom>
        </p:spPr>
      </p:pic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6903003B-A77C-0F4F-3AFB-1CAC342CD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551" y="2428868"/>
            <a:ext cx="1903372" cy="190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39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>
                <a:solidFill>
                  <a:schemeClr val="accent3">
                    <a:lumMod val="75000"/>
                  </a:schemeClr>
                </a:solidFill>
              </a:rPr>
              <a:t>Ecossistema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 Grafana + </a:t>
            </a:r>
            <a:r>
              <a:rPr lang="en-US" sz="4000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 + Prometheus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54611375-A4D6-306F-F1B3-12804FD0E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81" y="1439862"/>
            <a:ext cx="10922711" cy="494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8763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11580034" cy="419191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</a:rPr>
              <a:t>Instrumentação em aplicações para coleta de traces, logs e métricas </a:t>
            </a: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Viabiliza a implementação de </a:t>
            </a:r>
            <a:r>
              <a:rPr lang="pt-BR" sz="2800" b="1" dirty="0" err="1">
                <a:solidFill>
                  <a:srgbClr val="494949"/>
                </a:solidFill>
              </a:rPr>
              <a:t>tracing</a:t>
            </a:r>
            <a:r>
              <a:rPr lang="pt-BR" sz="2800" b="1" dirty="0">
                <a:solidFill>
                  <a:srgbClr val="494949"/>
                </a:solidFill>
              </a:rPr>
              <a:t> distribuído</a:t>
            </a:r>
            <a:r>
              <a:rPr lang="pt-BR" sz="2800" dirty="0">
                <a:solidFill>
                  <a:srgbClr val="494949"/>
                </a:solidFill>
              </a:rPr>
              <a:t> de forma descomplicada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Nível de maturidade na </a:t>
            </a:r>
            <a:r>
              <a:rPr lang="pt-BR" sz="2800" b="1" dirty="0">
                <a:solidFill>
                  <a:srgbClr val="494949"/>
                </a:solidFill>
              </a:rPr>
              <a:t>CNCF (Cloud </a:t>
            </a:r>
            <a:r>
              <a:rPr lang="pt-BR" sz="2800" b="1" dirty="0" err="1">
                <a:solidFill>
                  <a:srgbClr val="494949"/>
                </a:solidFill>
              </a:rPr>
              <a:t>Native</a:t>
            </a:r>
            <a:r>
              <a:rPr lang="pt-BR" sz="2800" b="1" dirty="0">
                <a:solidFill>
                  <a:srgbClr val="494949"/>
                </a:solidFill>
              </a:rPr>
              <a:t> </a:t>
            </a:r>
            <a:r>
              <a:rPr lang="pt-BR" sz="2800" b="1" dirty="0" err="1">
                <a:solidFill>
                  <a:srgbClr val="494949"/>
                </a:solidFill>
              </a:rPr>
              <a:t>Computing</a:t>
            </a:r>
            <a:r>
              <a:rPr lang="pt-BR" sz="2800" b="1" dirty="0">
                <a:solidFill>
                  <a:srgbClr val="494949"/>
                </a:solidFill>
              </a:rPr>
              <a:t> Foundation): </a:t>
            </a:r>
            <a:r>
              <a:rPr lang="pt-BR" sz="2800" b="1" dirty="0" err="1">
                <a:solidFill>
                  <a:srgbClr val="494949"/>
                </a:solidFill>
              </a:rPr>
              <a:t>Graduated</a:t>
            </a:r>
            <a:endParaRPr lang="pt-BR" sz="2800" b="1" dirty="0">
              <a:solidFill>
                <a:srgbClr val="494949"/>
              </a:solidFill>
            </a:endParaRPr>
          </a:p>
          <a:p>
            <a:endParaRPr lang="pt-BR" sz="28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</a:rPr>
              <a:t>Site: </a:t>
            </a:r>
            <a:r>
              <a:rPr lang="pt-BR" sz="2800" dirty="0">
                <a:solidFill>
                  <a:srgbClr val="494949"/>
                </a:solidFill>
                <a:hlinkClick r:id="rId3"/>
              </a:rPr>
              <a:t>https://opentelemetry.io/</a:t>
            </a:r>
            <a:endParaRPr lang="pt-BR" sz="2800" dirty="0">
              <a:solidFill>
                <a:srgbClr val="494949"/>
              </a:solidFill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1416CE1-D397-1F5F-0498-E6FA02D7F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4637" y="5021262"/>
            <a:ext cx="3822701" cy="14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8476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11199034" cy="304083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Suporte a múltiplas </a:t>
            </a:r>
            <a:r>
              <a:rPr lang="pt-BR" sz="3200" dirty="0" err="1">
                <a:solidFill>
                  <a:srgbClr val="494949"/>
                </a:solidFill>
              </a:rPr>
              <a:t>stacks</a:t>
            </a:r>
            <a:r>
              <a:rPr lang="pt-BR" sz="3200" dirty="0">
                <a:solidFill>
                  <a:srgbClr val="494949"/>
                </a:solidFill>
              </a:rPr>
              <a:t>: </a:t>
            </a:r>
            <a:r>
              <a:rPr lang="pt-BR" sz="3200" b="1" dirty="0">
                <a:solidFill>
                  <a:srgbClr val="494949"/>
                </a:solidFill>
              </a:rPr>
              <a:t>.NET, Java, Node.js, Python...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rgbClr val="494949"/>
                </a:solidFill>
              </a:rPr>
              <a:t>Exporters</a:t>
            </a:r>
            <a:r>
              <a:rPr lang="pt-BR" sz="3200" dirty="0">
                <a:solidFill>
                  <a:srgbClr val="494949"/>
                </a:solidFill>
              </a:rPr>
              <a:t>/soluções de monitoramento com suporte</a:t>
            </a:r>
            <a:r>
              <a:rPr lang="pt-BR" sz="3200" b="1" dirty="0">
                <a:solidFill>
                  <a:srgbClr val="494949"/>
                </a:solidFill>
              </a:rPr>
              <a:t>: Console, </a:t>
            </a:r>
            <a:r>
              <a:rPr lang="pt-BR" sz="3200" b="1" dirty="0" err="1">
                <a:solidFill>
                  <a:srgbClr val="494949"/>
                </a:solidFill>
              </a:rPr>
              <a:t>stack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b="1" dirty="0" err="1">
                <a:solidFill>
                  <a:srgbClr val="494949"/>
                </a:solidFill>
              </a:rPr>
              <a:t>Grafana</a:t>
            </a:r>
            <a:r>
              <a:rPr lang="pt-BR" sz="3200" b="1" dirty="0">
                <a:solidFill>
                  <a:srgbClr val="494949"/>
                </a:solidFill>
              </a:rPr>
              <a:t>, Jaeger, </a:t>
            </a:r>
            <a:r>
              <a:rPr lang="pt-BR" sz="3200" b="1" dirty="0" err="1">
                <a:solidFill>
                  <a:srgbClr val="494949"/>
                </a:solidFill>
              </a:rPr>
              <a:t>Zipkin</a:t>
            </a:r>
            <a:r>
              <a:rPr lang="pt-BR" sz="3200" b="1" dirty="0">
                <a:solidFill>
                  <a:srgbClr val="494949"/>
                </a:solidFill>
              </a:rPr>
              <a:t>, </a:t>
            </a:r>
            <a:r>
              <a:rPr lang="pt-BR" sz="3200" b="1" dirty="0" err="1">
                <a:solidFill>
                  <a:srgbClr val="494949"/>
                </a:solidFill>
              </a:rPr>
              <a:t>Prometheus</a:t>
            </a:r>
            <a:r>
              <a:rPr lang="pt-BR" sz="3200" b="1" dirty="0">
                <a:solidFill>
                  <a:srgbClr val="494949"/>
                </a:solidFill>
              </a:rPr>
              <a:t>, Azure Monitor, </a:t>
            </a:r>
            <a:r>
              <a:rPr lang="pt-BR" sz="3200" b="1" dirty="0" err="1">
                <a:solidFill>
                  <a:srgbClr val="494949"/>
                </a:solidFill>
              </a:rPr>
              <a:t>Application</a:t>
            </a:r>
            <a:r>
              <a:rPr lang="pt-BR" sz="3200" b="1" dirty="0">
                <a:solidFill>
                  <a:srgbClr val="494949"/>
                </a:solidFill>
              </a:rPr>
              <a:t> Insights, </a:t>
            </a:r>
            <a:r>
              <a:rPr lang="pt-BR" sz="3200" b="1" dirty="0" err="1">
                <a:solidFill>
                  <a:srgbClr val="494949"/>
                </a:solidFill>
              </a:rPr>
              <a:t>Dynatrace</a:t>
            </a:r>
            <a:r>
              <a:rPr lang="pt-BR" sz="3200" b="1" dirty="0">
                <a:solidFill>
                  <a:srgbClr val="494949"/>
                </a:solidFill>
              </a:rPr>
              <a:t>, AWS </a:t>
            </a:r>
            <a:r>
              <a:rPr lang="pt-BR" sz="3200" b="1" dirty="0" err="1">
                <a:solidFill>
                  <a:srgbClr val="494949"/>
                </a:solidFill>
              </a:rPr>
              <a:t>CloudWatch</a:t>
            </a:r>
            <a:r>
              <a:rPr lang="pt-BR" sz="3200" b="1" dirty="0">
                <a:solidFill>
                  <a:srgbClr val="494949"/>
                </a:solidFill>
              </a:rPr>
              <a:t>, New </a:t>
            </a:r>
            <a:r>
              <a:rPr lang="pt-BR" sz="3200" b="1" dirty="0" err="1">
                <a:solidFill>
                  <a:srgbClr val="494949"/>
                </a:solidFill>
              </a:rPr>
              <a:t>Relic</a:t>
            </a:r>
            <a:r>
              <a:rPr lang="pt-BR" sz="3200" b="1" dirty="0">
                <a:solidFill>
                  <a:srgbClr val="494949"/>
                </a:solidFill>
              </a:rPr>
              <a:t>...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037172E-9448-3417-252E-5ED7139EF4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4637" y="5021262"/>
            <a:ext cx="3822701" cy="14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9086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439862"/>
            <a:ext cx="11199034" cy="259763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rgbClr val="494949"/>
                </a:solidFill>
              </a:rPr>
              <a:t>OpenTelemetry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b="1" dirty="0" err="1">
                <a:solidFill>
                  <a:srgbClr val="494949"/>
                </a:solidFill>
              </a:rPr>
              <a:t>Collector</a:t>
            </a:r>
            <a:r>
              <a:rPr lang="pt-BR" sz="3200" dirty="0">
                <a:solidFill>
                  <a:srgbClr val="494949"/>
                </a:solidFill>
              </a:rPr>
              <a:t>: mecanismo para receber, processar e exportar dados de </a:t>
            </a:r>
            <a:r>
              <a:rPr lang="pt-BR" sz="3200" b="1" dirty="0">
                <a:solidFill>
                  <a:srgbClr val="494949"/>
                </a:solidFill>
              </a:rPr>
              <a:t>telemetria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rgbClr val="494949"/>
                </a:solidFill>
              </a:rPr>
              <a:t>OpenTelemetry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b="1" dirty="0" err="1">
                <a:solidFill>
                  <a:srgbClr val="494949"/>
                </a:solidFill>
              </a:rPr>
              <a:t>Protocol</a:t>
            </a:r>
            <a:r>
              <a:rPr lang="pt-BR" sz="3200" b="1" dirty="0">
                <a:solidFill>
                  <a:srgbClr val="494949"/>
                </a:solidFill>
              </a:rPr>
              <a:t> (OTLP)</a:t>
            </a:r>
            <a:r>
              <a:rPr lang="pt-BR" sz="3200" dirty="0">
                <a:solidFill>
                  <a:srgbClr val="494949"/>
                </a:solidFill>
              </a:rPr>
              <a:t> → suporte a </a:t>
            </a:r>
            <a:r>
              <a:rPr lang="pt-BR" sz="3200" b="1" dirty="0">
                <a:solidFill>
                  <a:srgbClr val="494949"/>
                </a:solidFill>
              </a:rPr>
              <a:t>HTTP </a:t>
            </a:r>
            <a:r>
              <a:rPr lang="pt-BR" sz="3200" dirty="0">
                <a:solidFill>
                  <a:srgbClr val="494949"/>
                </a:solidFill>
              </a:rPr>
              <a:t>(</a:t>
            </a:r>
            <a:r>
              <a:rPr lang="pt-BR" sz="3200" b="1" dirty="0">
                <a:solidFill>
                  <a:srgbClr val="494949"/>
                </a:solidFill>
              </a:rPr>
              <a:t>porta 4318</a:t>
            </a:r>
            <a:r>
              <a:rPr lang="pt-BR" sz="3200" dirty="0">
                <a:solidFill>
                  <a:srgbClr val="494949"/>
                </a:solidFill>
              </a:rPr>
              <a:t>) e </a:t>
            </a:r>
            <a:r>
              <a:rPr lang="pt-BR" sz="3200" b="1" dirty="0" err="1">
                <a:solidFill>
                  <a:srgbClr val="494949"/>
                </a:solidFill>
              </a:rPr>
              <a:t>gRPC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dirty="0">
                <a:solidFill>
                  <a:srgbClr val="494949"/>
                </a:solidFill>
              </a:rPr>
              <a:t>(</a:t>
            </a:r>
            <a:r>
              <a:rPr lang="pt-BR" sz="3200" b="1" dirty="0">
                <a:solidFill>
                  <a:srgbClr val="494949"/>
                </a:solidFill>
              </a:rPr>
              <a:t>porta 4317</a:t>
            </a:r>
            <a:r>
              <a:rPr lang="pt-BR" sz="3200" dirty="0">
                <a:solidFill>
                  <a:srgbClr val="494949"/>
                </a:solidFill>
              </a:rPr>
              <a:t>)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037172E-9448-3417-252E-5ED7139EF4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4637" y="5021262"/>
            <a:ext cx="3822701" cy="14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8422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Alloy: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287462"/>
            <a:ext cx="8379634" cy="52075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rgbClr val="494949"/>
                </a:solidFill>
              </a:rPr>
              <a:t>Collector</a:t>
            </a:r>
            <a:r>
              <a:rPr lang="pt-BR" sz="3200" b="1" dirty="0">
                <a:solidFill>
                  <a:srgbClr val="494949"/>
                </a:solidFill>
              </a:rPr>
              <a:t> baseado no </a:t>
            </a:r>
            <a:r>
              <a:rPr lang="pt-BR" sz="3200" b="1" dirty="0" err="1">
                <a:solidFill>
                  <a:srgbClr val="494949"/>
                </a:solidFill>
              </a:rPr>
              <a:t>OpenTelemetry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b="1" dirty="0" err="1">
                <a:solidFill>
                  <a:srgbClr val="494949"/>
                </a:solidFill>
              </a:rPr>
              <a:t>Protocol</a:t>
            </a:r>
            <a:r>
              <a:rPr lang="pt-BR" sz="3200" b="1" dirty="0">
                <a:solidFill>
                  <a:srgbClr val="494949"/>
                </a:solidFill>
              </a:rPr>
              <a:t> (OTLP)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Open </a:t>
            </a:r>
            <a:r>
              <a:rPr lang="pt-BR" sz="3200" b="1" dirty="0" err="1">
                <a:solidFill>
                  <a:srgbClr val="494949"/>
                </a:solidFill>
              </a:rPr>
              <a:t>source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Pode exigir o uso de </a:t>
            </a:r>
            <a:r>
              <a:rPr lang="pt-BR" sz="3200" b="1" dirty="0" err="1">
                <a:solidFill>
                  <a:srgbClr val="494949"/>
                </a:solidFill>
              </a:rPr>
              <a:t>packages</a:t>
            </a:r>
            <a:r>
              <a:rPr lang="pt-BR" sz="3200" b="1" dirty="0">
                <a:solidFill>
                  <a:srgbClr val="494949"/>
                </a:solidFill>
              </a:rPr>
              <a:t> específicos em aplicações, dependendo da </a:t>
            </a:r>
            <a:r>
              <a:rPr lang="pt-BR" sz="3200" b="1" dirty="0" err="1">
                <a:solidFill>
                  <a:srgbClr val="494949"/>
                </a:solidFill>
              </a:rPr>
              <a:t>stack</a:t>
            </a: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Site: </a:t>
            </a:r>
            <a:r>
              <a:rPr lang="pt-BR" sz="3200" dirty="0">
                <a:solidFill>
                  <a:srgbClr val="494949"/>
                </a:solidFill>
                <a:hlinkClick r:id="rId3"/>
              </a:rPr>
              <a:t>https://grafana.com/oss/alloy-opentelemetry-collector/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717416-7D94-E8CF-CDC4-8384B6CFA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94837" y="2755252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5090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5BC0-3F5B-CD72-B2E1-A83D2A73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7471E-12A9-731C-FEB4-7199F84F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Alloy: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7D2B99-EC78-7F73-3C18-4A6735621E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287462"/>
            <a:ext cx="8379634" cy="456740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Algumas </a:t>
            </a:r>
            <a:r>
              <a:rPr lang="pt-BR" sz="3200" dirty="0" err="1">
                <a:solidFill>
                  <a:srgbClr val="494949"/>
                </a:solidFill>
              </a:rPr>
              <a:t>stacks</a:t>
            </a:r>
            <a:r>
              <a:rPr lang="pt-BR" sz="3200" dirty="0">
                <a:solidFill>
                  <a:srgbClr val="494949"/>
                </a:solidFill>
              </a:rPr>
              <a:t> suportadas: </a:t>
            </a:r>
            <a:r>
              <a:rPr lang="pt-BR" sz="3200" b="1" dirty="0">
                <a:solidFill>
                  <a:srgbClr val="494949"/>
                </a:solidFill>
              </a:rPr>
              <a:t>.NET, Java, Node, Python, PHP, Go...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Configuração em </a:t>
            </a:r>
            <a:r>
              <a:rPr lang="pt-BR" sz="3200" b="1" dirty="0">
                <a:solidFill>
                  <a:srgbClr val="494949"/>
                </a:solidFill>
              </a:rPr>
              <a:t>.NET</a:t>
            </a:r>
            <a:r>
              <a:rPr lang="pt-BR" sz="3200" dirty="0">
                <a:solidFill>
                  <a:srgbClr val="494949"/>
                </a:solidFill>
              </a:rPr>
              <a:t>: uso de um </a:t>
            </a:r>
            <a:r>
              <a:rPr lang="pt-BR" sz="3200" b="1" dirty="0" err="1">
                <a:solidFill>
                  <a:srgbClr val="494949"/>
                </a:solidFill>
              </a:rPr>
              <a:t>package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b="1" dirty="0" err="1">
                <a:solidFill>
                  <a:srgbClr val="494949"/>
                </a:solidFill>
              </a:rPr>
              <a:t>NuGet</a:t>
            </a:r>
            <a:r>
              <a:rPr lang="pt-BR" sz="3200" b="1" dirty="0">
                <a:solidFill>
                  <a:srgbClr val="494949"/>
                </a:solidFill>
              </a:rPr>
              <a:t> específico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Configuração em </a:t>
            </a:r>
            <a:r>
              <a:rPr lang="pt-BR" sz="3200" b="1" dirty="0">
                <a:solidFill>
                  <a:srgbClr val="494949"/>
                </a:solidFill>
              </a:rPr>
              <a:t>Java</a:t>
            </a:r>
            <a:r>
              <a:rPr lang="pt-BR" sz="3200" dirty="0">
                <a:solidFill>
                  <a:srgbClr val="494949"/>
                </a:solidFill>
              </a:rPr>
              <a:t>: uso de um </a:t>
            </a:r>
            <a:r>
              <a:rPr lang="pt-BR" sz="3200" b="1" dirty="0">
                <a:solidFill>
                  <a:srgbClr val="494949"/>
                </a:solidFill>
              </a:rPr>
              <a:t>Java Agent (.</a:t>
            </a:r>
            <a:r>
              <a:rPr lang="pt-BR" sz="3200" b="1" dirty="0" err="1">
                <a:solidFill>
                  <a:srgbClr val="494949"/>
                </a:solidFill>
              </a:rPr>
              <a:t>jar</a:t>
            </a:r>
            <a:r>
              <a:rPr lang="pt-BR" sz="3200" b="1" dirty="0">
                <a:solidFill>
                  <a:srgbClr val="494949"/>
                </a:solidFill>
              </a:rPr>
              <a:t>) específico</a:t>
            </a:r>
            <a:r>
              <a:rPr lang="pt-BR" sz="3200" dirty="0">
                <a:solidFill>
                  <a:srgbClr val="494949"/>
                </a:solidFill>
              </a:rPr>
              <a:t>, carregado na inicialização da </a:t>
            </a:r>
            <a:r>
              <a:rPr lang="pt-BR" sz="3200" dirty="0" err="1">
                <a:solidFill>
                  <a:srgbClr val="494949"/>
                </a:solidFill>
              </a:rPr>
              <a:t>aplicaçao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9024261-FE84-04CA-B7A4-148984BAA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4837" y="2755252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1695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6B57-7D5E-656B-93AD-6EEF4A3A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E4EEF-4A6B-6FAF-2B65-56B64530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>
                <a:solidFill>
                  <a:schemeClr val="accent3">
                    <a:lumMod val="75000"/>
                  </a:schemeClr>
                </a:solidFill>
              </a:rPr>
              <a:t>Ecossistema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 Grafana + </a:t>
            </a:r>
            <a:r>
              <a:rPr lang="en-US" sz="4000" dirty="0" err="1">
                <a:solidFill>
                  <a:schemeClr val="accent3">
                    <a:lumMod val="75000"/>
                  </a:schemeClr>
                </a:solidFill>
              </a:rPr>
              <a:t>OpenTelemetry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 + Prometheus</a:t>
            </a:r>
            <a:endParaRPr lang="pt-B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74263A7-4CBF-3F2A-59F6-AA6ABA34F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" y="1820862"/>
            <a:ext cx="11323638" cy="3797731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871CD455-70CF-474B-2B40-FF6B406241DA}"/>
              </a:ext>
            </a:extLst>
          </p:cNvPr>
          <p:cNvSpPr txBox="1">
            <a:spLocks/>
          </p:cNvSpPr>
          <p:nvPr/>
        </p:nvSpPr>
        <p:spPr>
          <a:xfrm>
            <a:off x="546911" y="5923393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102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pt-BR" sz="2400" dirty="0">
                <a:solidFill>
                  <a:schemeClr val="accent3">
                    <a:lumMod val="75000"/>
                  </a:schemeClr>
                </a:solidFill>
              </a:rPr>
              <a:t>Fonte: </a:t>
            </a:r>
            <a:r>
              <a:rPr lang="pt-BR" sz="2400" dirty="0" err="1">
                <a:solidFill>
                  <a:schemeClr val="accent3">
                    <a:lumMod val="75000"/>
                  </a:schemeClr>
                </a:solidFill>
              </a:rPr>
              <a:t>Grafana</a:t>
            </a:r>
            <a:endParaRPr lang="pt-BR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06670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A57E9-E099-6DB1-8A2F-33F97691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283BD-A008-1855-8E3D-38FC2637A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Prometheus: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3DF97C-366A-3B81-29E5-31FA5A0881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287462"/>
            <a:ext cx="8379634" cy="52075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Solução para coleta, armazenamento e consulta de </a:t>
            </a:r>
            <a:r>
              <a:rPr lang="pt-BR" sz="3200" b="1" dirty="0">
                <a:solidFill>
                  <a:srgbClr val="494949"/>
                </a:solidFill>
              </a:rPr>
              <a:t>métricas de monitoramento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Open </a:t>
            </a:r>
            <a:r>
              <a:rPr lang="pt-BR" sz="3200" b="1" dirty="0" err="1">
                <a:solidFill>
                  <a:srgbClr val="494949"/>
                </a:solidFill>
              </a:rPr>
              <a:t>source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 combinação </a:t>
            </a:r>
            <a:r>
              <a:rPr lang="pt-BR" sz="3200" b="1" dirty="0" err="1">
                <a:solidFill>
                  <a:srgbClr val="494949"/>
                </a:solidFill>
              </a:rPr>
              <a:t>Prometheus</a:t>
            </a:r>
            <a:r>
              <a:rPr lang="pt-BR" sz="3200" b="1" dirty="0">
                <a:solidFill>
                  <a:srgbClr val="494949"/>
                </a:solidFill>
              </a:rPr>
              <a:t> + </a:t>
            </a:r>
            <a:r>
              <a:rPr lang="pt-BR" sz="3200" b="1" dirty="0" err="1">
                <a:solidFill>
                  <a:srgbClr val="494949"/>
                </a:solidFill>
              </a:rPr>
              <a:t>Grafana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  <a:r>
              <a:rPr lang="pt-BR" sz="3200" dirty="0">
                <a:solidFill>
                  <a:srgbClr val="494949"/>
                </a:solidFill>
              </a:rPr>
              <a:t>é uma presença praticamente certa em ambientes </a:t>
            </a:r>
            <a:r>
              <a:rPr lang="pt-BR" sz="3200" b="1" dirty="0" err="1">
                <a:solidFill>
                  <a:srgbClr val="494949"/>
                </a:solidFill>
              </a:rPr>
              <a:t>Kubernetes</a:t>
            </a:r>
            <a:r>
              <a:rPr lang="pt-BR" sz="3200" b="1" dirty="0">
                <a:solidFill>
                  <a:srgbClr val="494949"/>
                </a:solidFill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Site: </a:t>
            </a:r>
            <a:r>
              <a:rPr lang="pt-BR" sz="3200" dirty="0">
                <a:solidFill>
                  <a:srgbClr val="494949"/>
                </a:solidFill>
                <a:hlinkClick r:id="rId3"/>
              </a:rPr>
              <a:t>https://prometheus.io/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1FD52D22-1374-6C62-7BAF-FCB68A439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0037" y="2281188"/>
            <a:ext cx="2166425" cy="21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47060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5F1E6-379E-693F-A59A-F16AC8C5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35AC7-C308-8260-71F0-704FCCA6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Loki: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C47324-A7E2-580F-AFA4-43493B60A0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287462"/>
            <a:ext cx="8379634" cy="387798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Solução escalável </a:t>
            </a:r>
            <a:r>
              <a:rPr lang="pt-BR" sz="3200" dirty="0">
                <a:solidFill>
                  <a:srgbClr val="494949"/>
                </a:solidFill>
              </a:rPr>
              <a:t>para </a:t>
            </a:r>
            <a:r>
              <a:rPr lang="pt-BR" sz="3200" b="1" dirty="0">
                <a:solidFill>
                  <a:srgbClr val="494949"/>
                </a:solidFill>
              </a:rPr>
              <a:t>agregação de logs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Open </a:t>
            </a:r>
            <a:r>
              <a:rPr lang="pt-BR" sz="3200" b="1" dirty="0" err="1">
                <a:solidFill>
                  <a:srgbClr val="494949"/>
                </a:solidFill>
              </a:rPr>
              <a:t>source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Fácil configuração</a:t>
            </a:r>
            <a:r>
              <a:rPr lang="pt-BR" sz="3200" dirty="0">
                <a:solidFill>
                  <a:srgbClr val="494949"/>
                </a:solidFill>
              </a:rPr>
              <a:t> em aplicações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Site: </a:t>
            </a:r>
            <a:r>
              <a:rPr lang="pt-BR" sz="3200" dirty="0">
                <a:solidFill>
                  <a:srgbClr val="494949"/>
                </a:solidFill>
                <a:hlinkClick r:id="rId3"/>
              </a:rPr>
              <a:t>https://grafana.com/oss/loki/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D59C1DD-16D8-0402-BBA2-857A8843A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837" y="2479279"/>
            <a:ext cx="1745113" cy="203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9021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Tempo: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uma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visão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geral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03" y="1766879"/>
            <a:ext cx="8379634" cy="387798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Solução escalável </a:t>
            </a:r>
            <a:r>
              <a:rPr lang="pt-BR" sz="3200" dirty="0">
                <a:solidFill>
                  <a:srgbClr val="494949"/>
                </a:solidFill>
              </a:rPr>
              <a:t>para </a:t>
            </a:r>
            <a:r>
              <a:rPr lang="pt-BR" sz="3200" b="1" dirty="0" err="1">
                <a:solidFill>
                  <a:srgbClr val="494949"/>
                </a:solidFill>
              </a:rPr>
              <a:t>tracing</a:t>
            </a:r>
            <a:r>
              <a:rPr lang="pt-BR" sz="3200" b="1" dirty="0">
                <a:solidFill>
                  <a:srgbClr val="494949"/>
                </a:solidFill>
              </a:rPr>
              <a:t> distribuído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rgbClr val="494949"/>
                </a:solidFill>
              </a:rPr>
              <a:t>Open </a:t>
            </a:r>
            <a:r>
              <a:rPr lang="pt-BR" sz="3200" b="1" dirty="0" err="1">
                <a:solidFill>
                  <a:srgbClr val="494949"/>
                </a:solidFill>
              </a:rPr>
              <a:t>source</a:t>
            </a:r>
            <a:endParaRPr lang="pt-BR" sz="32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Integração com </a:t>
            </a:r>
            <a:r>
              <a:rPr lang="pt-BR" sz="3200" b="1" dirty="0" err="1">
                <a:solidFill>
                  <a:srgbClr val="494949"/>
                </a:solidFill>
              </a:rPr>
              <a:t>OpenTelemetry</a:t>
            </a:r>
            <a:r>
              <a:rPr lang="pt-BR" sz="3200" b="1" dirty="0">
                <a:solidFill>
                  <a:srgbClr val="494949"/>
                </a:solidFill>
              </a:rPr>
              <a:t> e Loki</a:t>
            </a:r>
          </a:p>
          <a:p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Site: </a:t>
            </a:r>
            <a:r>
              <a:rPr lang="pt-BR" sz="3200" dirty="0">
                <a:solidFill>
                  <a:srgbClr val="494949"/>
                </a:solidFill>
                <a:hlinkClick r:id="rId3"/>
              </a:rPr>
              <a:t>https://grafana.com/oss/tempo/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56E01D2-FE90-4875-8B18-FA48F5E4FC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7637" y="2735262"/>
            <a:ext cx="2321160" cy="188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9599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D0BE4-EF1C-180D-B3A8-7AC68176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5FA2-31DC-F4FB-C804-2AF60559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162B379F-1F09-7AA6-AEA3-3EF156BF9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222" y="5052438"/>
            <a:ext cx="1192646" cy="119264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E0A211A7-1241-A749-1CF9-A5FC462B14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7237" y="4863400"/>
            <a:ext cx="1318658" cy="137125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B8A2DE6D-8E98-4E64-E26C-C6B87A789E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4052" y="5052438"/>
            <a:ext cx="1417596" cy="1150344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FD5D0E56-D585-64C9-EEC9-F0EA3803FE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6100" y="5020567"/>
            <a:ext cx="1045625" cy="121989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CB576EF-C5A6-4FD8-6382-563E07FD93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6280" y="5052438"/>
            <a:ext cx="1150345" cy="1150345"/>
          </a:xfrm>
          <a:prstGeom prst="rect">
            <a:avLst/>
          </a:prstGeom>
        </p:spPr>
      </p:pic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A8C4D87C-2457-5511-571B-8F90ECC2470B}"/>
              </a:ext>
            </a:extLst>
          </p:cNvPr>
          <p:cNvSpPr>
            <a:spLocks noGrp="1"/>
          </p:cNvSpPr>
          <p:nvPr/>
        </p:nvSpPr>
        <p:spPr>
          <a:xfrm>
            <a:off x="731837" y="4199397"/>
            <a:ext cx="10937066" cy="5170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bg1"/>
                </a:solidFill>
              </a:rPr>
              <a:t>github.com/renatogroffe/observabilidade-stack-grafana_tech-summit-2026-08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E3F9EE01-2E75-608C-9DBF-15DA64ACF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6948" y="5000611"/>
            <a:ext cx="1261720" cy="124447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6558118-2980-4289-1513-90FBF76562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4670" y="1144019"/>
            <a:ext cx="2883220" cy="288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1707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049462"/>
            <a:ext cx="4876800" cy="3013448"/>
          </a:xfrm>
        </p:spPr>
        <p:txBody>
          <a:bodyPr/>
          <a:lstStyle/>
          <a:p>
            <a:r>
              <a:rPr lang="pt-BR" dirty="0"/>
              <a:t>EXEMPLOS PRÁTICOS</a:t>
            </a:r>
          </a:p>
        </p:txBody>
      </p:sp>
    </p:spTree>
    <p:extLst>
      <p:ext uri="{BB962C8B-B14F-4D97-AF65-F5344CB8AC3E}">
        <p14:creationId xmlns:p14="http://schemas.microsoft.com/office/powerpoint/2010/main" val="93502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151606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B393A5-0F9F-DF82-D839-6593F7717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670" y="3433442"/>
            <a:ext cx="2883220" cy="288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1487</TotalTime>
  <Words>1430</Words>
  <Application>Microsoft Office PowerPoint</Application>
  <PresentationFormat>Personalizar</PresentationFormat>
  <Paragraphs>221</Paragraphs>
  <Slides>26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26</vt:i4>
      </vt:variant>
    </vt:vector>
  </HeadingPairs>
  <TitlesOfParts>
    <vt:vector size="35" baseType="lpstr">
      <vt:lpstr>Arial</vt:lpstr>
      <vt:lpstr>Consolas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Observabilidade Unificada com a stack Gafana De aplicações a serviços em nuvem, IA e Kubernetes!</vt:lpstr>
      <vt:lpstr>Renato Groffe</vt:lpstr>
      <vt:lpstr>Milton Câmara</vt:lpstr>
      <vt:lpstr>Participe de nossas iniciativas gratuitas</vt:lpstr>
      <vt:lpstr>Conteúdos desta apresentação</vt:lpstr>
      <vt:lpstr>Agenda</vt:lpstr>
      <vt:lpstr>Pilares da Observabilidade</vt:lpstr>
      <vt:lpstr>Grafana: uma visão geral</vt:lpstr>
      <vt:lpstr>Grafana: uma visão geral</vt:lpstr>
      <vt:lpstr>Grafana: uma visão geral</vt:lpstr>
      <vt:lpstr>Grafana: uma visão geral</vt:lpstr>
      <vt:lpstr>Grafana GROT Academy</vt:lpstr>
      <vt:lpstr>Apresentação do PowerPoint</vt:lpstr>
      <vt:lpstr>Ecossistema Grafana + OpenTelemetry + Prometheus</vt:lpstr>
      <vt:lpstr>OpenTelemetry: uma visão geral</vt:lpstr>
      <vt:lpstr>OpenTelemetry: uma visão geral</vt:lpstr>
      <vt:lpstr>OpenTelemetry: uma visão geral</vt:lpstr>
      <vt:lpstr>Alloy: uma visão geral</vt:lpstr>
      <vt:lpstr>Alloy: uma visão geral</vt:lpstr>
      <vt:lpstr>Ecossistema Grafana + OpenTelemetry + Prometheus</vt:lpstr>
      <vt:lpstr>Prometheus: uma visão geral</vt:lpstr>
      <vt:lpstr>Loki: uma visão geral</vt:lpstr>
      <vt:lpstr>Tempo: uma visão geral</vt:lpstr>
      <vt:lpstr>Conteúdos desta apresentação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504</cp:revision>
  <dcterms:created xsi:type="dcterms:W3CDTF">2016-08-05T22:03:34Z</dcterms:created>
  <dcterms:modified xsi:type="dcterms:W3CDTF">2026-08-01T03:08:42Z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